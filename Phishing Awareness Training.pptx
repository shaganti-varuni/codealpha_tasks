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i Shaganti" userId="8d422305786fafb5" providerId="LiveId" clId="{5AFAE1D3-1BFC-4D1F-BE14-3A8C5AAAACAD}"/>
    <pc:docChg chg="modSld">
      <pc:chgData name="Varuni Shaganti" userId="8d422305786fafb5" providerId="LiveId" clId="{5AFAE1D3-1BFC-4D1F-BE14-3A8C5AAAACAD}" dt="2026-01-06T02:56:40.753" v="48"/>
      <pc:docMkLst>
        <pc:docMk/>
      </pc:docMkLst>
      <pc:sldChg chg="addSp modSp mod modAnim">
        <pc:chgData name="Varuni Shaganti" userId="8d422305786fafb5" providerId="LiveId" clId="{5AFAE1D3-1BFC-4D1F-BE14-3A8C5AAAACAD}" dt="2026-01-06T02:54:09.977" v="18"/>
        <pc:sldMkLst>
          <pc:docMk/>
          <pc:sldMk cId="2936079614" sldId="264"/>
        </pc:sldMkLst>
        <pc:spChg chg="mod">
          <ac:chgData name="Varuni Shaganti" userId="8d422305786fafb5" providerId="LiveId" clId="{5AFAE1D3-1BFC-4D1F-BE14-3A8C5AAAACAD}" dt="2026-01-06T02:52:53.357" v="14" actId="20577"/>
          <ac:spMkLst>
            <pc:docMk/>
            <pc:sldMk cId="2936079614" sldId="264"/>
            <ac:spMk id="3" creationId="{3FD4811F-87FD-2985-4462-F73E363BB7E6}"/>
          </ac:spMkLst>
        </pc:spChg>
        <pc:picChg chg="add mod">
          <ac:chgData name="Varuni Shaganti" userId="8d422305786fafb5" providerId="LiveId" clId="{5AFAE1D3-1BFC-4D1F-BE14-3A8C5AAAACAD}" dt="2026-01-06T02:52:20.634" v="12" actId="1076"/>
          <ac:picMkLst>
            <pc:docMk/>
            <pc:sldMk cId="2936079614" sldId="264"/>
            <ac:picMk id="5" creationId="{57741D59-DFD2-9038-B1AC-20AF3F46DB87}"/>
          </ac:picMkLst>
        </pc:picChg>
        <pc:picChg chg="add mod">
          <ac:chgData name="Varuni Shaganti" userId="8d422305786fafb5" providerId="LiveId" clId="{5AFAE1D3-1BFC-4D1F-BE14-3A8C5AAAACAD}" dt="2026-01-06T02:54:03.183" v="17" actId="1076"/>
          <ac:picMkLst>
            <pc:docMk/>
            <pc:sldMk cId="2936079614" sldId="264"/>
            <ac:picMk id="6" creationId="{5EC48178-3545-89A3-B6C4-A5C143A816ED}"/>
          </ac:picMkLst>
        </pc:picChg>
      </pc:sldChg>
      <pc:sldChg chg="addSp modSp mod modAnim">
        <pc:chgData name="Varuni Shaganti" userId="8d422305786fafb5" providerId="LiveId" clId="{5AFAE1D3-1BFC-4D1F-BE14-3A8C5AAAACAD}" dt="2026-01-06T02:55:16.247" v="33"/>
        <pc:sldMkLst>
          <pc:docMk/>
          <pc:sldMk cId="3490301738" sldId="265"/>
        </pc:sldMkLst>
        <pc:spChg chg="mod">
          <ac:chgData name="Varuni Shaganti" userId="8d422305786fafb5" providerId="LiveId" clId="{5AFAE1D3-1BFC-4D1F-BE14-3A8C5AAAACAD}" dt="2026-01-06T02:55:03.578" v="30" actId="20577"/>
          <ac:spMkLst>
            <pc:docMk/>
            <pc:sldMk cId="3490301738" sldId="265"/>
            <ac:spMk id="4" creationId="{502DA7BF-1756-0576-178D-D03290A72D29}"/>
          </ac:spMkLst>
        </pc:spChg>
        <pc:picChg chg="add mod">
          <ac:chgData name="Varuni Shaganti" userId="8d422305786fafb5" providerId="LiveId" clId="{5AFAE1D3-1BFC-4D1F-BE14-3A8C5AAAACAD}" dt="2026-01-06T02:54:39.505" v="24" actId="1076"/>
          <ac:picMkLst>
            <pc:docMk/>
            <pc:sldMk cId="3490301738" sldId="265"/>
            <ac:picMk id="2" creationId="{ACDD0217-D367-3659-01AC-11EB86EFD16D}"/>
          </ac:picMkLst>
        </pc:picChg>
        <pc:picChg chg="add mod">
          <ac:chgData name="Varuni Shaganti" userId="8d422305786fafb5" providerId="LiveId" clId="{5AFAE1D3-1BFC-4D1F-BE14-3A8C5AAAACAD}" dt="2026-01-06T02:54:54.320" v="28" actId="1076"/>
          <ac:picMkLst>
            <pc:docMk/>
            <pc:sldMk cId="3490301738" sldId="265"/>
            <ac:picMk id="3" creationId="{70417D2A-A7AA-A172-17DE-141F6ED03A09}"/>
          </ac:picMkLst>
        </pc:picChg>
        <pc:picChg chg="add mod">
          <ac:chgData name="Varuni Shaganti" userId="8d422305786fafb5" providerId="LiveId" clId="{5AFAE1D3-1BFC-4D1F-BE14-3A8C5AAAACAD}" dt="2026-01-06T02:55:14.570" v="32" actId="1076"/>
          <ac:picMkLst>
            <pc:docMk/>
            <pc:sldMk cId="3490301738" sldId="265"/>
            <ac:picMk id="5" creationId="{9B662991-4EB3-10E0-E79D-EF98F5577429}"/>
          </ac:picMkLst>
        </pc:picChg>
      </pc:sldChg>
      <pc:sldChg chg="addSp modSp mod modAnim">
        <pc:chgData name="Varuni Shaganti" userId="8d422305786fafb5" providerId="LiveId" clId="{5AFAE1D3-1BFC-4D1F-BE14-3A8C5AAAACAD}" dt="2026-01-06T02:56:40.753" v="48"/>
        <pc:sldMkLst>
          <pc:docMk/>
          <pc:sldMk cId="1138364712" sldId="266"/>
        </pc:sldMkLst>
        <pc:spChg chg="mod">
          <ac:chgData name="Varuni Shaganti" userId="8d422305786fafb5" providerId="LiveId" clId="{5AFAE1D3-1BFC-4D1F-BE14-3A8C5AAAACAD}" dt="2026-01-06T02:56:20.931" v="45" actId="20577"/>
          <ac:spMkLst>
            <pc:docMk/>
            <pc:sldMk cId="1138364712" sldId="266"/>
            <ac:spMk id="2" creationId="{594FC324-710D-A28C-668F-E6CF7F1F0245}"/>
          </ac:spMkLst>
        </pc:spChg>
        <pc:picChg chg="add mod">
          <ac:chgData name="Varuni Shaganti" userId="8d422305786fafb5" providerId="LiveId" clId="{5AFAE1D3-1BFC-4D1F-BE14-3A8C5AAAACAD}" dt="2026-01-06T02:55:52.733" v="39" actId="1076"/>
          <ac:picMkLst>
            <pc:docMk/>
            <pc:sldMk cId="1138364712" sldId="266"/>
            <ac:picMk id="3" creationId="{7A713C32-9B3B-E26F-31D2-C54A2635C10F}"/>
          </ac:picMkLst>
        </pc:picChg>
        <pc:picChg chg="add mod">
          <ac:chgData name="Varuni Shaganti" userId="8d422305786fafb5" providerId="LiveId" clId="{5AFAE1D3-1BFC-4D1F-BE14-3A8C5AAAACAD}" dt="2026-01-06T02:56:14.762" v="43" actId="1076"/>
          <ac:picMkLst>
            <pc:docMk/>
            <pc:sldMk cId="1138364712" sldId="266"/>
            <ac:picMk id="4" creationId="{25F905B8-6FCF-A45B-9F39-834BC9E1C9A2}"/>
          </ac:picMkLst>
        </pc:picChg>
        <pc:picChg chg="add mod">
          <ac:chgData name="Varuni Shaganti" userId="8d422305786fafb5" providerId="LiveId" clId="{5AFAE1D3-1BFC-4D1F-BE14-3A8C5AAAACAD}" dt="2026-01-06T02:56:39.162" v="47" actId="1076"/>
          <ac:picMkLst>
            <pc:docMk/>
            <pc:sldMk cId="1138364712" sldId="266"/>
            <ac:picMk id="5" creationId="{93E4239B-8ED3-44CE-90B8-D4C1D544379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mazon.in/help" TargetMode="External"/><Relationship Id="rId2" Type="http://schemas.openxmlformats.org/officeDocument/2006/relationships/hyperlink" Target="https://www.amazon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BB30-1318-4235-FDF1-B37504962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1535" y="2584579"/>
            <a:ext cx="8210938" cy="1194661"/>
          </a:xfrm>
        </p:spPr>
        <p:txBody>
          <a:bodyPr>
            <a:normAutofit/>
          </a:bodyPr>
          <a:lstStyle/>
          <a:p>
            <a:r>
              <a:rPr lang="en-US" b="1" dirty="0"/>
              <a:t>Phishing Awareness Training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28A6B-D577-1756-4D49-26BEF372C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4914" y="3872550"/>
            <a:ext cx="7197726" cy="382210"/>
          </a:xfrm>
        </p:spPr>
        <p:txBody>
          <a:bodyPr/>
          <a:lstStyle/>
          <a:p>
            <a:pPr algn="ctr"/>
            <a:r>
              <a:rPr lang="en-US" dirty="0"/>
              <a:t>Recognize • Avoid • Stay Safe</a:t>
            </a:r>
          </a:p>
        </p:txBody>
      </p:sp>
    </p:spTree>
    <p:extLst>
      <p:ext uri="{BB962C8B-B14F-4D97-AF65-F5344CB8AC3E}">
        <p14:creationId xmlns:p14="http://schemas.microsoft.com/office/powerpoint/2010/main" val="46262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529C-DB9E-ECF9-4801-65D88985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192D-EFD3-D5BB-05F5-3D67DB90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91479"/>
            <a:ext cx="10131425" cy="39997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Phishing</a:t>
            </a:r>
            <a:r>
              <a:rPr lang="en-US" dirty="0"/>
              <a:t> is a type of cyber attack where attackers pretend to be trusted people or companies.</a:t>
            </a:r>
          </a:p>
          <a:p>
            <a:pPr marL="0" indent="0">
              <a:buNone/>
            </a:pPr>
            <a:r>
              <a:rPr lang="en-US" dirty="0"/>
              <a:t>They try to steal: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Passwords 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OTPs 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Bank details 💳</a:t>
            </a:r>
          </a:p>
          <a:p>
            <a:pPr marL="0" indent="0">
              <a:buNone/>
            </a:pPr>
            <a:r>
              <a:rPr lang="en-US" dirty="0"/>
              <a:t>📧 Happens through emails, messages, fake websites, or social media.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👉 </a:t>
            </a:r>
            <a:r>
              <a:rPr lang="en-US" b="1" dirty="0"/>
              <a:t>Goal:</a:t>
            </a:r>
            <a:r>
              <a:rPr lang="en-US" dirty="0"/>
              <a:t> Trick users into giving sensitive info.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3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D1AC-28F6-095B-A7C9-BCD5C104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Phishing is Dangerous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BD350-77BB-9139-D520-F78A9EC2D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⚠️ Phishing attacks can cause serious damage: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Steals personal and banking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Causes financial loss to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Hackers can access emails &amp; social media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Stolen data can be sold on dark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Affects individuals and organizations</a:t>
            </a:r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i="1" dirty="0"/>
              <a:t>Even one phishing email can lead to multiple cyber crimes.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18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4675-5B27-5446-B081-31A9BBBA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Phishing Emails 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E1A6-457F-3E02-16B4-5AC6A21D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0139"/>
            <a:ext cx="10131425" cy="39810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📧 Phishing emails often contain: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Fake sender addresses (looks real but isn’t)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Urgent words like “Immediately”, “Alert”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Grammar or spelling mistakes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Generic greetings like “Dear User”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Links or attachments that look suspicious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🧠 </a:t>
            </a:r>
            <a:r>
              <a:rPr lang="en-US" i="1" dirty="0"/>
              <a:t>Attackers try to scare users into acting quickly.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8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4E70-32D2-CEA9-1CD0-1B9D90F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Websites &amp;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9451-6452-B3F1-BBAB-C2FE48980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72817"/>
            <a:ext cx="10131425" cy="40183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🌐 Fake websites are designed to look genuine: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 design copied from real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changes in URL spelling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HTTPS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Login pages asking for sensitive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Pop-ups forcing users to act fast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🔍 </a:t>
            </a:r>
            <a:r>
              <a:rPr lang="en-US" i="1" dirty="0"/>
              <a:t>Always check the URL before entering any information.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2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C012-F0BC-E832-5338-0977FDA5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C898-AD3C-DCFC-0F6E-AEE874922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9469"/>
            <a:ext cx="10131425" cy="39717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🧠 Social engineering uses human psychology: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Fear: “Your account is hacked”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Urgency: “Respond within 10 minutes”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Authority: Pretending to be bank or HR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Trust: Fake customer support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Curiosity: “Unusual login detected”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i="1" dirty="0"/>
              <a:t>Attackers manipulate emotions, not technology.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32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570A-B4BA-EB28-0D4F-8B0A0867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Phishing Email Examples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D23FD6-820D-71AB-F255-D858FF35D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3604" y="1846986"/>
            <a:ext cx="561200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PHISHING EXAMPLE 1: College / University Email 🎓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Important: Student Portal Access Suspended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Dear Student,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detected unusual activity in your student portal account.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avoid permanent suspension, please verify your details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Click here to verify: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http://jntuh-student-verify.com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 Team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3AA57-020A-822B-71F3-0BCD5A98E3DB}"/>
              </a:ext>
            </a:extLst>
          </p:cNvPr>
          <p:cNvSpPr txBox="1"/>
          <p:nvPr/>
        </p:nvSpPr>
        <p:spPr>
          <a:xfrm>
            <a:off x="6096000" y="1847461"/>
            <a:ext cx="56978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REAL-WORLD PHISHING EXAMPLE 2: Delivery / Courier Scam 📦</a:t>
            </a:r>
          </a:p>
          <a:p>
            <a:endParaRPr lang="en-US" dirty="0"/>
          </a:p>
          <a:p>
            <a:r>
              <a:rPr lang="en-US" dirty="0"/>
              <a:t>Subject: Package Delivery Failed – Action Required</a:t>
            </a:r>
          </a:p>
          <a:p>
            <a:endParaRPr lang="en-US" dirty="0"/>
          </a:p>
          <a:p>
            <a:r>
              <a:rPr lang="en-US" dirty="0"/>
              <a:t>Your package could not be delivered due to an incorrect </a:t>
            </a:r>
            <a:r>
              <a:rPr lang="en-US" dirty="0" err="1"/>
              <a:t>address.Please</a:t>
            </a:r>
            <a:r>
              <a:rPr lang="en-US" dirty="0"/>
              <a:t> confirm your details to reschedule delivery.</a:t>
            </a:r>
          </a:p>
          <a:p>
            <a:endParaRPr lang="en-US" dirty="0"/>
          </a:p>
          <a:p>
            <a:r>
              <a:rPr lang="en-US" dirty="0"/>
              <a:t>👉 Track your package </a:t>
            </a:r>
            <a:r>
              <a:rPr lang="en-US" dirty="0" err="1"/>
              <a:t>here:http</a:t>
            </a:r>
            <a:r>
              <a:rPr lang="en-US" dirty="0"/>
              <a:t>://delivery-status-update.net</a:t>
            </a:r>
          </a:p>
        </p:txBody>
      </p:sp>
    </p:spTree>
    <p:extLst>
      <p:ext uri="{BB962C8B-B14F-4D97-AF65-F5344CB8AC3E}">
        <p14:creationId xmlns:p14="http://schemas.microsoft.com/office/powerpoint/2010/main" val="228781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2A83-85B2-3822-ECC9-6F7F43C2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to Stay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93DB-3A63-06B2-56AB-921B0DA7C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Follow these safety steps: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Verify sender before responding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clicking unknown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Never share OTPs or passwords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strong and unique passwords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two-factor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phishing emails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🛡️ </a:t>
            </a:r>
            <a:r>
              <a:rPr lang="en-US" i="1" dirty="0"/>
              <a:t>User awareness is the strongest defense.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47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E284-6E9C-E58F-FAFF-2F91DE3F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3446"/>
            <a:ext cx="10131425" cy="1456267"/>
          </a:xfrm>
        </p:spPr>
        <p:txBody>
          <a:bodyPr/>
          <a:lstStyle/>
          <a:p>
            <a:r>
              <a:rPr lang="en-US" dirty="0"/>
              <a:t>Interactive Quiz 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811F-87FD-2985-4462-F73E363BB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49" y="1500809"/>
            <a:ext cx="10131425" cy="50457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Q1: You receive an email from your bank saying:</a:t>
            </a:r>
            <a:br>
              <a:rPr lang="en-US" dirty="0"/>
            </a:br>
            <a:r>
              <a:rPr lang="en-US" dirty="0"/>
              <a:t>       “Your account will be blocked in 30 minutes. Click here to verify.”</a:t>
            </a:r>
          </a:p>
          <a:p>
            <a:pPr marL="0" indent="0">
              <a:buNone/>
            </a:pPr>
            <a:r>
              <a:rPr lang="en-US" dirty="0"/>
              <a:t>      What should you do FIRST?</a:t>
            </a:r>
          </a:p>
          <a:p>
            <a:pPr marL="0" indent="0">
              <a:buNone/>
            </a:pPr>
            <a:r>
              <a:rPr lang="en-US" dirty="0"/>
              <a:t> A. Click the link immediately</a:t>
            </a:r>
            <a:br>
              <a:rPr lang="en-US" dirty="0"/>
            </a:br>
            <a:r>
              <a:rPr lang="en-US" dirty="0"/>
              <a:t>B. Reply asking for more details</a:t>
            </a:r>
            <a:br>
              <a:rPr lang="en-US" dirty="0"/>
            </a:br>
            <a:r>
              <a:rPr lang="en-US" dirty="0"/>
              <a:t>C. Open bank’s official website separately </a:t>
            </a:r>
            <a:br>
              <a:rPr lang="en-US" dirty="0"/>
            </a:br>
            <a:r>
              <a:rPr lang="en-US" dirty="0"/>
              <a:t>D. Share the email with friends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Q2: </a:t>
            </a:r>
            <a:r>
              <a:rPr lang="en-US" dirty="0"/>
              <a:t>Which of the following URLs is MOST likely phishing?</a:t>
            </a:r>
          </a:p>
          <a:p>
            <a:pPr marL="0" indent="0">
              <a:buNone/>
            </a:pPr>
            <a:r>
              <a:rPr lang="en-US" dirty="0"/>
              <a:t>     A. </a:t>
            </a:r>
            <a:r>
              <a:rPr lang="en-US" dirty="0">
                <a:hlinkClick r:id="rId2"/>
              </a:rPr>
              <a:t>https://www.amazon.in</a:t>
            </a:r>
            <a:br>
              <a:rPr lang="en-US" dirty="0"/>
            </a:br>
            <a:r>
              <a:rPr lang="en-US" dirty="0"/>
              <a:t>     B. https://secure-amazon-login.com </a:t>
            </a:r>
            <a:br>
              <a:rPr lang="en-US" dirty="0"/>
            </a:br>
            <a:r>
              <a:rPr lang="en-US" dirty="0"/>
              <a:t>     C. https://login.amazon.in</a:t>
            </a:r>
            <a:br>
              <a:rPr lang="en-US" dirty="0"/>
            </a:br>
            <a:r>
              <a:rPr lang="en-US" dirty="0"/>
              <a:t>     D. </a:t>
            </a:r>
            <a:r>
              <a:rPr lang="en-US" dirty="0">
                <a:hlinkClick r:id="rId3"/>
              </a:rPr>
              <a:t>https://amazon.in/help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57741D59-DFD2-9038-B1AC-20AF3F46D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6443" y="3345024"/>
            <a:ext cx="304055" cy="303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C48178-3545-89A3-B6C4-A5C143A81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372" y="5058461"/>
            <a:ext cx="304826" cy="2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2DA7BF-1756-0576-178D-D03290A72D29}"/>
              </a:ext>
            </a:extLst>
          </p:cNvPr>
          <p:cNvSpPr txBox="1"/>
          <p:nvPr/>
        </p:nvSpPr>
        <p:spPr>
          <a:xfrm>
            <a:off x="477078" y="197346"/>
            <a:ext cx="1101255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Q3: An attacker pretends to be your college IT admin and asks for your login details.</a:t>
            </a:r>
          </a:p>
          <a:p>
            <a:pPr marL="0" indent="0">
              <a:buNone/>
            </a:pPr>
            <a:r>
              <a:rPr lang="en-US" dirty="0"/>
              <a:t>        This attack mainly exploits:</a:t>
            </a:r>
          </a:p>
          <a:p>
            <a:pPr marL="0" indent="0">
              <a:buNone/>
            </a:pPr>
            <a:r>
              <a:rPr lang="en-US" dirty="0"/>
              <a:t>    A. Software vulnerability</a:t>
            </a:r>
            <a:br>
              <a:rPr lang="en-US" dirty="0"/>
            </a:br>
            <a:r>
              <a:rPr lang="en-US" dirty="0"/>
              <a:t>    B. Network failure</a:t>
            </a:r>
            <a:br>
              <a:rPr lang="en-US" dirty="0"/>
            </a:br>
            <a:r>
              <a:rPr lang="en-US" dirty="0"/>
              <a:t>    C. Human psychology </a:t>
            </a:r>
            <a:br>
              <a:rPr lang="en-US" dirty="0"/>
            </a:br>
            <a:r>
              <a:rPr lang="en-US" dirty="0"/>
              <a:t>    D. Hardware fault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Q4: </a:t>
            </a:r>
            <a:r>
              <a:rPr lang="en-US" dirty="0"/>
              <a:t>Why do attackers often ask for OTPs?</a:t>
            </a:r>
          </a:p>
          <a:p>
            <a:r>
              <a:rPr lang="en-US" dirty="0"/>
              <a:t>   A. OTPs can be reused</a:t>
            </a:r>
            <a:br>
              <a:rPr lang="en-US" dirty="0"/>
            </a:br>
            <a:r>
              <a:rPr lang="en-US" dirty="0"/>
              <a:t>   B. OTPs allow temporary account access </a:t>
            </a:r>
            <a:br>
              <a:rPr lang="en-US" dirty="0"/>
            </a:br>
            <a:r>
              <a:rPr lang="en-US" dirty="0"/>
              <a:t>   C. OTPs are easy to guess</a:t>
            </a:r>
            <a:br>
              <a:rPr lang="en-US" dirty="0"/>
            </a:br>
            <a:r>
              <a:rPr lang="en-US" dirty="0"/>
              <a:t>   D. OTPs are public information</a:t>
            </a:r>
          </a:p>
          <a:p>
            <a:endParaRPr lang="en-US" dirty="0"/>
          </a:p>
          <a:p>
            <a:r>
              <a:rPr lang="en-US" dirty="0"/>
              <a:t>Q5: Which email characteristic MOST strongly indicates phishing?</a:t>
            </a:r>
          </a:p>
          <a:p>
            <a:r>
              <a:rPr lang="en-US" dirty="0"/>
              <a:t>   A. Company logo</a:t>
            </a:r>
            <a:br>
              <a:rPr lang="en-US" dirty="0"/>
            </a:br>
            <a:r>
              <a:rPr lang="en-US" dirty="0"/>
              <a:t>   B. Professional design</a:t>
            </a:r>
            <a:br>
              <a:rPr lang="en-US" dirty="0"/>
            </a:br>
            <a:r>
              <a:rPr lang="en-US" dirty="0"/>
              <a:t>   C. Urgent tone demanding action </a:t>
            </a:r>
            <a:br>
              <a:rPr lang="en-US" dirty="0"/>
            </a:br>
            <a:r>
              <a:rPr lang="en-US" dirty="0"/>
              <a:t>   D. Contact phone number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DD0217-D367-3659-01AC-11EB86EF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54" y="1329537"/>
            <a:ext cx="304826" cy="2987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417D2A-A7AA-A172-17DE-141F6ED03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334" y="2710468"/>
            <a:ext cx="304826" cy="298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62991-4EB3-10E0-E79D-EF98F557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29" y="4623243"/>
            <a:ext cx="304826" cy="2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0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4FC324-710D-A28C-668F-E6CF7F1F0245}"/>
              </a:ext>
            </a:extLst>
          </p:cNvPr>
          <p:cNvSpPr txBox="1"/>
          <p:nvPr/>
        </p:nvSpPr>
        <p:spPr>
          <a:xfrm>
            <a:off x="506896" y="129209"/>
            <a:ext cx="1131073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Q6: Why is enabling two-factor authentication effective against phishing?</a:t>
            </a:r>
          </a:p>
          <a:p>
            <a:r>
              <a:rPr lang="en-US" dirty="0"/>
              <a:t>   A. It blocks all phishing emails</a:t>
            </a:r>
            <a:br>
              <a:rPr lang="en-US" dirty="0"/>
            </a:br>
            <a:r>
              <a:rPr lang="en-US" dirty="0"/>
              <a:t>   B. It makes passwords unnecessary</a:t>
            </a:r>
            <a:br>
              <a:rPr lang="en-US" dirty="0"/>
            </a:br>
            <a:r>
              <a:rPr lang="en-US" dirty="0"/>
              <a:t>   C. Stolen passwords alone become useless </a:t>
            </a:r>
            <a:br>
              <a:rPr lang="en-US" dirty="0"/>
            </a:br>
            <a:r>
              <a:rPr lang="en-US" dirty="0"/>
              <a:t>   D. It hides your email address</a:t>
            </a:r>
          </a:p>
          <a:p>
            <a:endParaRPr lang="en-US" dirty="0"/>
          </a:p>
          <a:p>
            <a:r>
              <a:rPr lang="en-US" dirty="0"/>
              <a:t>Q7: You clicked a suspicious link by mistake. What should you do IMMEDIATELY?</a:t>
            </a:r>
          </a:p>
          <a:p>
            <a:r>
              <a:rPr lang="en-US" dirty="0"/>
              <a:t>   A. Ignore it</a:t>
            </a:r>
            <a:br>
              <a:rPr lang="en-US" dirty="0"/>
            </a:br>
            <a:r>
              <a:rPr lang="en-US" dirty="0"/>
              <a:t>   B. Shut down the system</a:t>
            </a:r>
            <a:br>
              <a:rPr lang="en-US" dirty="0"/>
            </a:br>
            <a:r>
              <a:rPr lang="en-US" dirty="0"/>
              <a:t>   C. Change passwords and report the incident </a:t>
            </a:r>
            <a:br>
              <a:rPr lang="en-US" dirty="0"/>
            </a:br>
            <a:r>
              <a:rPr lang="en-US" dirty="0"/>
              <a:t>   D. Forward the link to others</a:t>
            </a:r>
          </a:p>
          <a:p>
            <a:endParaRPr lang="en-US" dirty="0"/>
          </a:p>
          <a:p>
            <a:r>
              <a:rPr lang="en-US" dirty="0"/>
              <a:t>Q8: Which is the MOST effective defense against phishing?</a:t>
            </a:r>
          </a:p>
          <a:p>
            <a:r>
              <a:rPr lang="en-US" dirty="0"/>
              <a:t>  A. Antivirus software</a:t>
            </a:r>
            <a:br>
              <a:rPr lang="en-US" dirty="0"/>
            </a:br>
            <a:r>
              <a:rPr lang="en-US" dirty="0"/>
              <a:t>  B. Firewalls</a:t>
            </a:r>
            <a:br>
              <a:rPr lang="en-US" dirty="0"/>
            </a:br>
            <a:r>
              <a:rPr lang="en-US" dirty="0"/>
              <a:t>  C. User awareness and training </a:t>
            </a:r>
            <a:br>
              <a:rPr lang="en-US" dirty="0"/>
            </a:br>
            <a:r>
              <a:rPr lang="en-US" dirty="0"/>
              <a:t>  D. Faster internet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13C32-9B3B-E26F-31D2-C54A2635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921" y="974974"/>
            <a:ext cx="304826" cy="298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F905B8-6FCF-A45B-9F39-834BC9E1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052" y="2657500"/>
            <a:ext cx="304826" cy="298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E4239B-8ED3-44CE-90B8-D4C1D544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917" y="4287341"/>
            <a:ext cx="304826" cy="2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6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5F4C-550D-5023-E77D-B8F2486E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Takeaways 🛡️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445283-C616-304D-8CB6-D92A94FBA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4522" y="1929812"/>
            <a:ext cx="69124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Phishing attacks target human behavior, not technology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phishing attacks succeed due to lack of awareness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warning signs can prevent serious damage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Verifying information before clicking is essential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awareness is the strongest defense against phishing</a:t>
            </a:r>
          </a:p>
        </p:txBody>
      </p:sp>
    </p:spTree>
    <p:extLst>
      <p:ext uri="{BB962C8B-B14F-4D97-AF65-F5344CB8AC3E}">
        <p14:creationId xmlns:p14="http://schemas.microsoft.com/office/powerpoint/2010/main" val="3226866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{B0A1C11B-B3FC-4C9C-AC48-5C834198FE07}TFb5ae2469-0bae-4978-b0e0-39dd046150ff9a115ede-a9c3cc5252b0</Template>
  <TotalTime>192</TotalTime>
  <Words>855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Phishing Awareness Training </vt:lpstr>
      <vt:lpstr>What is Phishing?</vt:lpstr>
      <vt:lpstr>Why Phishing is Dangerous</vt:lpstr>
      <vt:lpstr>How Phishing Emails Look</vt:lpstr>
      <vt:lpstr>Fake Websites &amp; URLs</vt:lpstr>
      <vt:lpstr>Social Engineering Techniques</vt:lpstr>
      <vt:lpstr>Real-World Phishing Email Examples</vt:lpstr>
      <vt:lpstr>Best Practices to Stay Safe</vt:lpstr>
      <vt:lpstr>Interactive Quiz 🧩</vt:lpstr>
      <vt:lpstr>PowerPoint Presentation</vt:lpstr>
      <vt:lpstr>PowerPoint Presentation</vt:lpstr>
      <vt:lpstr>Conclusion &amp; Key Takeaways 🛡️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Varuni Shaganti</dc:creator>
  <cp:lastModifiedBy>Varuni Shaganti</cp:lastModifiedBy>
  <cp:revision>2</cp:revision>
  <dcterms:created xsi:type="dcterms:W3CDTF">2026-01-05T13:51:57Z</dcterms:created>
  <dcterms:modified xsi:type="dcterms:W3CDTF">2026-01-06T02:56:49Z</dcterms:modified>
</cp:coreProperties>
</file>